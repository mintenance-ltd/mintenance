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Revenue (£M)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</c:v>
                </c:pt>
                <c:pt idx="1">
                  <c:v>2.61</c:v>
                </c:pt>
                <c:pt idx="2">
                  <c:v>8.7799999999999994</c:v>
                </c:pt>
                <c:pt idx="3">
                  <c:v>24.45</c:v>
                </c:pt>
                <c:pt idx="4">
                  <c:v>51.25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0C-498C-9887-05EC30009D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03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943600" y="2560320"/>
            <a:ext cx="3291840" cy="265176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858000" y="3291840"/>
            <a:ext cx="2286000" cy="1920240"/>
          </a:xfrm>
          <a:prstGeom prst="rect">
            <a:avLst/>
          </a:prstGeom>
          <a:solidFill>
            <a:srgbClr val="0D9488">
              <a:alpha val="24000"/>
            </a:srgbClr>
          </a:solidFill>
          <a:ln w="12700">
            <a:solidFill>
              <a:srgbClr val="0D9488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MINTENANCE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02920" y="1993392"/>
            <a:ext cx="29260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D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layer property maintenance never had.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  ·  February 2026  ·  gloire@mintenance.co.uk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4279392"/>
            <a:ext cx="64008" cy="64008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58952" y="4279392"/>
            <a:ext cx="64008" cy="64008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014984" y="4279392"/>
            <a:ext cx="64008" cy="6400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271016" y="4279392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527048" y="4279392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64748B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maintenance is broken.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411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D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pain points that cost homeowners and contractors billions every year.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783080"/>
            <a:ext cx="2560320" cy="2743200"/>
          </a:xfrm>
          <a:prstGeom prst="rect">
            <a:avLst/>
          </a:prstGeom>
          <a:solidFill>
            <a:srgbClr val="182840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" y="24871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Protection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" y="2962656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pay upfront with no guarantee work will be completed. £2.4B lost annually to contractor no-shows and substandard work.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82112" y="1783080"/>
            <a:ext cx="2560320" cy="2743200"/>
          </a:xfrm>
          <a:prstGeom prst="rect">
            <a:avLst/>
          </a:prstGeom>
          <a:solidFill>
            <a:srgbClr val="182840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9272" y="24871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Verification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19272" y="2962656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Directories like Checkatrade show who applied, not who completed. There is no photo evidence, no before/after record, no proof of anything.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80176" y="1783080"/>
            <a:ext cx="2560320" cy="2743200"/>
          </a:xfrm>
          <a:prstGeom prst="rect">
            <a:avLst/>
          </a:prstGeom>
          <a:solidFill>
            <a:srgbClr val="182840"/>
          </a:solidFill>
          <a:ln w="1524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736" y="1920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17336" y="24871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&amp; Frustrating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17336" y="2962656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post on 4 platforms, wait days, get ghosted, and have no idea who to trust. Contractors waste money on cold lead credits.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8899BB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Mintenance: one platform, end to end.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411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post jobs. Contractors bid. Work starts only after a signed contract and funded escrow.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releases only when the job is photo-verified complete.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7472" y="196596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47472" y="1965960"/>
            <a:ext cx="54864" cy="2651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05840" y="2121408"/>
            <a:ext cx="603504" cy="603504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585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75488" y="28346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Payments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" y="3236976"/>
            <a:ext cx="16824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funds held securely. Contractor paid only after approval.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468880" y="196596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2468880" y="1965960"/>
            <a:ext cx="54864" cy="2651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3127248" y="2121408"/>
            <a:ext cx="603504" cy="603504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225856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96896" y="28346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Contracts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596896" y="3236976"/>
            <a:ext cx="16824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sign before a single nail is driven. Legally binding.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90288" y="196596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4590288" y="1965960"/>
            <a:ext cx="54864" cy="2651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7"/>
          <p:cNvSpPr/>
          <p:nvPr/>
        </p:nvSpPr>
        <p:spPr>
          <a:xfrm>
            <a:off x="5248656" y="2121408"/>
            <a:ext cx="603504" cy="603504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225856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18304" y="28346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Verification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18304" y="3236976"/>
            <a:ext cx="16824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geolocated photos. AI validates quality automatically.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711696" y="196596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6711696" y="1965960"/>
            <a:ext cx="54864" cy="2651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2"/>
          <p:cNvSpPr/>
          <p:nvPr/>
        </p:nvSpPr>
        <p:spPr>
          <a:xfrm>
            <a:off x="7370064" y="2121408"/>
            <a:ext cx="603504" cy="603504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2258568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39712" y="28346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839712" y="3236976"/>
            <a:ext cx="16824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scores contractor fit by location, expertise, ratings, and price.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64748B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job posted to payment released.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11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34720" y="1261872"/>
            <a:ext cx="694944" cy="6949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4720" y="12618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52321" y="1591056"/>
            <a:ext cx="146304" cy="54864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68" y="2139696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6344" y="2615184"/>
            <a:ext cx="12316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6344" y="2980944"/>
            <a:ext cx="123169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posts job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photos, budget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location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31009" y="1261872"/>
            <a:ext cx="694944" cy="6949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131009" y="12618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048610" y="1591056"/>
            <a:ext cx="146304" cy="54864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457" y="213969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62633" y="2615184"/>
            <a:ext cx="12316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862633" y="2980944"/>
            <a:ext cx="123169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contractors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— AI scores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fit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527298" y="1261872"/>
            <a:ext cx="694944" cy="6949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3527298" y="12618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444898" y="1591056"/>
            <a:ext cx="146304" cy="54864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2746" y="213969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258922" y="2615184"/>
            <a:ext cx="12316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258922" y="2980944"/>
            <a:ext cx="123169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accepts;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sign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contract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923587" y="1261872"/>
            <a:ext cx="694944" cy="6949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4923587" y="12618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841187" y="1591056"/>
            <a:ext cx="146304" cy="54864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035" y="2139696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655210" y="2615184"/>
            <a:ext cx="12316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655210" y="2980944"/>
            <a:ext cx="123169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held securely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work begins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319876" y="1261872"/>
            <a:ext cx="694944" cy="6949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5"/>
          <p:cNvSpPr/>
          <p:nvPr/>
        </p:nvSpPr>
        <p:spPr>
          <a:xfrm>
            <a:off x="6319876" y="12618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7237476" y="1591056"/>
            <a:ext cx="146304" cy="54864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5324" y="2139696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051499" y="2615184"/>
            <a:ext cx="12316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6051499" y="2980944"/>
            <a:ext cx="123169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uploads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photos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GPS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7716164" y="1261872"/>
            <a:ext cx="694944" cy="6949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0"/>
          <p:cNvSpPr/>
          <p:nvPr/>
        </p:nvSpPr>
        <p:spPr>
          <a:xfrm>
            <a:off x="7716164" y="12618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1612" y="2139696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447788" y="2615184"/>
            <a:ext cx="12316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7447788" y="2980944"/>
            <a:ext cx="123169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approves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paid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8899BB"/>
                </a:solidFill>
              </a:rPr>
              <a:t>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£11 billion market with no dominant digital player.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11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14400" y="1152144"/>
            <a:ext cx="3657600" cy="3364992"/>
          </a:xfrm>
          <a:prstGeom prst="ellipse">
            <a:avLst/>
          </a:prstGeom>
          <a:solidFill>
            <a:srgbClr val="DBF4F2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417320" y="1614830"/>
            <a:ext cx="2651760" cy="2439619"/>
          </a:xfrm>
          <a:prstGeom prst="ellipse">
            <a:avLst/>
          </a:prstGeom>
          <a:solidFill>
            <a:srgbClr val="A7E8E3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874520" y="2035454"/>
            <a:ext cx="1737360" cy="1598371"/>
          </a:xfrm>
          <a:prstGeom prst="ellipse">
            <a:avLst/>
          </a:prstGeom>
          <a:solidFill>
            <a:srgbClr val="0D9488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£11.1B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UK property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spend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9933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£3.2B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226771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booked jobs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84832" y="25146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£315M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84832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2030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target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49240" y="1051560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349240" y="105156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532120" y="1124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32120" y="14538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homeowner households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49240" y="2039112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349240" y="2039112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532120" y="21122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£1,800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24414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maintenance spend per home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49240" y="3026664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349240" y="3026664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532120" y="30998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1.88M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2120" y="34290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tradespeople (and shrinking)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49240" y="4014216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349240" y="4014216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532120" y="4087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32120" y="44165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CAGR through 2031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64748B"/>
                </a:solidFill>
              </a:rPr>
              <a:t>WHY NOW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forces have aligned to make now the moment.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11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84048" y="1389888"/>
            <a:ext cx="3977640" cy="1389888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92224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4996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Tradesperson Shortage Crisis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207008" y="1865376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will be nearly 1 million workers short by 2032. Quality is scarce — verified platforms command premiums.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0016" y="1389888"/>
            <a:ext cx="3977640" cy="1389888"/>
          </a:xfrm>
          <a:prstGeom prst="rect">
            <a:avLst/>
          </a:prstGeom>
          <a:solidFill>
            <a:srgbClr val="16203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792224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22976" y="14996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Booking Dominance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522976" y="1865376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of UK home service bookings are now on mobile. Mintenance's native iOS &amp; Android apps are built for this.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84048" y="2962656"/>
            <a:ext cx="3977640" cy="1389888"/>
          </a:xfrm>
          <a:prstGeom prst="rect">
            <a:avLst/>
          </a:prstGeom>
          <a:solidFill>
            <a:srgbClr val="162035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364992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07008" y="30723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Maturity for Matching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207008" y="3438144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can now match contractor to job with &gt;90% accuracy and validate photo evidence in real time.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00016" y="2962656"/>
            <a:ext cx="3977640" cy="1389888"/>
          </a:xfrm>
          <a:prstGeom prst="rect">
            <a:avLst/>
          </a:prstGeom>
          <a:solidFill>
            <a:srgbClr val="16203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3364992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22976" y="30723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Trust Expectations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522976" y="3438144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consumers expect digital-first escrow (Airbnb, Vinted, eBay). The mental model already exists.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8899BB"/>
                </a:solidFill>
              </a:rPr>
              <a:t>COMPETITIVE LANDSCAPE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the only platform with all five locks.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11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61872"/>
          <a:ext cx="8001000" cy="33649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Checkatrade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Bark.com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MyBuilder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TaskRabbit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Mintenance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Escrow payments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Digital contracts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Photo verification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AI contractor matching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Outcome-based fee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Revenue (known)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~£62M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~£70M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~$75M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766E"/>
                          </a:solidFill>
                        </a:rPr>
                        <a:t>Building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Subscription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Credits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Per-lead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Commission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766E"/>
                          </a:solidFill>
                        </a:rPr>
                        <a:t>Escrow 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64748B"/>
                </a:solidFill>
              </a:rPr>
              <a:t>BUSINESS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earn when work gets done — aligned with both sides.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11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84048" y="1298448"/>
            <a:ext cx="2423160" cy="1298448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D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18105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job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escrow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298448"/>
            <a:ext cx="2423160" cy="1298448"/>
          </a:xfrm>
          <a:prstGeom prst="rect">
            <a:avLst/>
          </a:prstGeom>
          <a:solidFill>
            <a:srgbClr val="0F766E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154680" y="138988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Mintenance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4680" y="18105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escrow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12-15% platform fee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25312" y="1298448"/>
            <a:ext cx="2423160" cy="1298448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925312" y="138988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D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25312" y="18105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bid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payment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52928" y="1847088"/>
            <a:ext cx="2560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623560" y="1847088"/>
            <a:ext cx="2560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84048" y="2944368"/>
            <a:ext cx="8375904" cy="512064"/>
          </a:xfrm>
          <a:prstGeom prst="rect">
            <a:avLst/>
          </a:prstGeom>
          <a:solidFill>
            <a:srgbClr val="162035"/>
          </a:solidFill>
          <a:ln w="6350">
            <a:solidFill>
              <a:srgbClr val="243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84048" y="2944368"/>
            <a:ext cx="68580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84048" y="2944368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4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3054096"/>
            <a:ext cx="292608" cy="2926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27632" y="2944368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 (12–15% of job value)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84048" y="3566160"/>
            <a:ext cx="8375904" cy="512064"/>
          </a:xfrm>
          <a:prstGeom prst="rect">
            <a:avLst/>
          </a:prstGeom>
          <a:solidFill>
            <a:srgbClr val="162035"/>
          </a:solidFill>
          <a:ln w="6350">
            <a:solidFill>
              <a:srgbClr val="243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384048" y="3566160"/>
            <a:ext cx="685800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384048" y="3566160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4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3675888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627632" y="3566160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Premium Tier (£49/mo)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384048" y="4187952"/>
            <a:ext cx="8375904" cy="512064"/>
          </a:xfrm>
          <a:prstGeom prst="rect">
            <a:avLst/>
          </a:prstGeom>
          <a:solidFill>
            <a:srgbClr val="162035"/>
          </a:solidFill>
          <a:ln w="6350">
            <a:solidFill>
              <a:srgbClr val="243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4"/>
          <p:cNvSpPr/>
          <p:nvPr/>
        </p:nvSpPr>
        <p:spPr>
          <a:xfrm>
            <a:off x="384048" y="4187952"/>
            <a:ext cx="68580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5"/>
          <p:cNvSpPr/>
          <p:nvPr/>
        </p:nvSpPr>
        <p:spPr>
          <a:xfrm>
            <a:off x="384048" y="4187952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4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4297680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627632" y="418795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Assessment + Insurance Upsell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8899BB"/>
                </a:solidFill>
              </a:rPr>
              <a:t>TRACTION &amp;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platform. Built and proven.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11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41605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11-phase job lifecycle (post → escrow → verify → release)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native apps (React Native + Expo)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310+ API endpoints with auth, CSRF, rate limiting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escrow, PaymentIntent flow, webhook handling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contractor matching &amp; building damage assessment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verification with geolocation (100m threshold)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&amp; notification system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analytics, audit logs &amp; feature flags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492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Health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74920" y="1664208"/>
            <a:ext cx="35661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074920" y="1664208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230368" y="17190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30368" y="20665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test suite pass 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2560320"/>
            <a:ext cx="35661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074920" y="2560320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230368" y="26151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30368" y="29626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 pass rate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74920" y="3456432"/>
            <a:ext cx="35661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074920" y="3456432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230368" y="3511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30368" y="3858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on platform fees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4352544"/>
            <a:ext cx="35661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5074920" y="4352544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230368" y="44074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310+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30368" y="4754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routes, TypeScript strict mode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64748B"/>
                </a:solidFill>
              </a:rPr>
              <a:t>GO-TO-MARKET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first. City by city.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11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84048" y="1371600"/>
            <a:ext cx="1965960" cy="3383280"/>
          </a:xfrm>
          <a:prstGeom prst="rect">
            <a:avLst/>
          </a:prstGeom>
          <a:solidFill>
            <a:srgbClr val="162035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84048" y="1371600"/>
            <a:ext cx="19659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37160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" y="195681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+ Bury, Oldham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9536" y="2606040"/>
            <a:ext cx="1024128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75488" y="2715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944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" y="3401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3630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523744" y="1371600"/>
            <a:ext cx="1965960" cy="3383280"/>
          </a:xfrm>
          <a:prstGeom prst="rect">
            <a:avLst/>
          </a:prstGeom>
          <a:solidFill>
            <a:srgbClr val="162035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523744" y="1371600"/>
            <a:ext cx="196596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523744" y="137160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15184" y="195681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London, Leeds, Bristol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999232" y="2606040"/>
            <a:ext cx="1024128" cy="27432"/>
          </a:xfrm>
          <a:prstGeom prst="rect">
            <a:avLst/>
          </a:prstGeom>
          <a:solidFill>
            <a:srgbClr val="D97706">
              <a:alpha val="50000"/>
            </a:srgbClr>
          </a:solidFill>
          <a:ln w="12700">
            <a:solidFill>
              <a:srgbClr val="D97706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615184" y="2715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15184" y="2944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615184" y="3401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15184" y="3630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63440" y="1371600"/>
            <a:ext cx="1965960" cy="3383280"/>
          </a:xfrm>
          <a:prstGeom prst="rect">
            <a:avLst/>
          </a:prstGeom>
          <a:solidFill>
            <a:srgbClr val="162035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663440" y="1371600"/>
            <a:ext cx="196596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663440" y="137160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54880" y="195681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UK coverage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138928" y="2606040"/>
            <a:ext cx="1024128" cy="27432"/>
          </a:xfrm>
          <a:prstGeom prst="rect">
            <a:avLst/>
          </a:prstGeom>
          <a:solidFill>
            <a:srgbClr val="16A34A">
              <a:alpha val="50000"/>
            </a:srgbClr>
          </a:solidFill>
          <a:ln w="12700">
            <a:solidFill>
              <a:srgbClr val="16A34A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754880" y="2715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944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754880" y="3401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630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35,000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803136" y="1371600"/>
            <a:ext cx="1965960" cy="3383280"/>
          </a:xfrm>
          <a:prstGeom prst="rect">
            <a:avLst/>
          </a:prstGeom>
          <a:solidFill>
            <a:srgbClr val="162035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803136" y="1371600"/>
            <a:ext cx="19659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803136" y="137160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94576" y="195681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pilot (Ireland + 1)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278624" y="2606040"/>
            <a:ext cx="1024128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894576" y="2715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94576" y="2944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894576" y="3401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94576" y="3630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supply (500+ contractors) must be live before homeowner marketing begins in any city.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8899BB"/>
                </a:solidFill>
              </a:rPr>
              <a:t>FINANCIAL PROJECTIONS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£51M revenue and 35% EBITDA margin by 2030.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11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6" name="Chart 0"/>
          <p:cNvGraphicFramePr/>
          <p:nvPr/>
        </p:nvGraphicFramePr>
        <p:xfrm>
          <a:off x="384048" y="1261872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61872"/>
          <a:ext cx="4050790" cy="2962656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2030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Revenue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£620K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£2.6M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£8.8M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£24.5M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£51.3M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GMV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£4.3M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£18M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£57M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£150M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£315M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EBITDA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-£392K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+£130K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+£1.8M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+£6.6M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+£18M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Margin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–63%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+5%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+21%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+27%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+35%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</a:rPr>
                        <a:t>Jobs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300K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64748B"/>
                </a:solidFill>
              </a:rPr>
              <a:t>UNIT ECONOMICS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margins. Fast payback. Clear leverage.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11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84048" y="1389888"/>
            <a:ext cx="2578608" cy="1389888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84048" y="157276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£850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84048" y="213969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Job Value (GMV)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389888"/>
            <a:ext cx="2578608" cy="1389888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18688" y="157276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18688" y="213969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Revenue per Job (13%)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53328" y="1389888"/>
            <a:ext cx="2578608" cy="1389888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053328" y="157276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53328" y="213969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2962656"/>
            <a:ext cx="2578608" cy="1389888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84048" y="3145536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84048" y="3712464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CAC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18688" y="2962656"/>
            <a:ext cx="2578608" cy="1389888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218688" y="3145536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218688" y="3712464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CAC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53328" y="2962656"/>
            <a:ext cx="2578608" cy="1389888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053328" y="3145536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mo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053328" y="3712464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CAC Payback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700016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 win, no fee' for contractors. 'Pay only when it's done' for homeowners. Platform fee is invisible until it is earned.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8899BB"/>
                </a:solidFill>
              </a:rPr>
              <a:t>TEAM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founders who understand the problem.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11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84048" y="1261872"/>
            <a:ext cx="39776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84048" y="1261872"/>
            <a:ext cx="54864" cy="3611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1737360" cy="173736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8288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331012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Gloire Nkouka &amp; Liam Clayton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0352" y="3703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0352" y="40233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admin@mintenance.co.uk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" y="43159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knowledge of the UK property market. Built the full Mintenance platform — architecture, AI pipeline, mobile apps, and payment systems.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81728" y="12618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2026 Hires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81728" y="1691640"/>
            <a:ext cx="3977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681728" y="1691640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791456" y="1746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Engineering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91456" y="2039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architecture &amp; team as we scale to 10 engineers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81728" y="2496312"/>
            <a:ext cx="3977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4681728" y="2496312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791456" y="2551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Operations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91456" y="28437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onboarding, QA, and dispute resolution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81728" y="3300984"/>
            <a:ext cx="3977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4681728" y="3300984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4791456" y="3355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Launch Manager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91456" y="3648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role — build contractor density in London first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81728" y="4105656"/>
            <a:ext cx="3977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4681728" y="4105656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4791456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Marketing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791456" y="4453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performance marketing, and brand ownership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64748B"/>
                </a:solidFill>
              </a:rPr>
              <a:t>THE ASK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 £500K–£1.5M pre-seed.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11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0" y="1325880"/>
            <a:ext cx="2743200" cy="1920240"/>
          </a:xfrm>
          <a:prstGeom prst="ellipse">
            <a:avLst/>
          </a:prstGeom>
          <a:solidFill>
            <a:srgbClr val="0D9488">
              <a:alpha val="15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£500K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£1.5M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0" y="32186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D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3657600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4096512"/>
            <a:ext cx="1993392" cy="859536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84048" y="411480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" y="449884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Product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senior engineers + VP Eng)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23744" y="4096512"/>
            <a:ext cx="1993392" cy="859536"/>
          </a:xfrm>
          <a:prstGeom prst="rect">
            <a:avLst/>
          </a:prstGeom>
          <a:solidFill>
            <a:srgbClr val="162035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523744" y="411480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23744" y="449884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Launch: </a:t>
            </a:r>
            <a:r>
              <a:rPr lang="en-US" sz="950" dirty="0" err="1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(contractor onboarding + ops mgr)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4096512"/>
            <a:ext cx="1993392" cy="859536"/>
          </a:xfrm>
          <a:prstGeom prst="rect">
            <a:avLst/>
          </a:prstGeom>
          <a:solidFill>
            <a:srgbClr val="16203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663440" y="411480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449884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Growth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(SEO, paid acquisition, referrals)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03136" y="4096512"/>
            <a:ext cx="1993392" cy="859536"/>
          </a:xfrm>
          <a:prstGeom prst="rect">
            <a:avLst/>
          </a:prstGeom>
          <a:solidFill>
            <a:srgbClr val="162035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803136" y="411480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03136" y="449884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Compliance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D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Contingency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8899BB"/>
                </a:solidFill>
              </a:rPr>
              <a:t>18-MONTH MILESTONES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funding achieves.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11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8640" y="2816352"/>
            <a:ext cx="804672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58952" y="270662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999232"/>
            <a:ext cx="1828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 contractors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24912" y="270662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468880" y="2359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2999232"/>
            <a:ext cx="1828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contractors live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jobs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28032" y="270662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72000" y="2359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999232"/>
            <a:ext cx="1828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jobs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&gt; 50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39712" y="270662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583680" y="2359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999232"/>
            <a:ext cx="1828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£620K revenue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rate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ready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4462272"/>
            <a:ext cx="8375904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84048" y="4462272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Series A Trigger: £2.6M ARR  ·  EBITDA breakeven  ·  20,000 jobs  ·  5 UK cities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64748B"/>
                </a:solidFill>
              </a:rPr>
              <a:t>RISKS &amp; MITIGATIONS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the risks. Here's how we manage them.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11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98448"/>
          <a:ext cx="8375904" cy="4023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Slow contractor supply build-up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DB8C8"/>
                          </a:solidFill>
                        </a:rPr>
                        <a:t>Pre-onboard 500+ contractors before homeowner marketing. City launch manager dedicated to supply.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Competitor adds escrow feature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DB8C8"/>
                          </a:solidFill>
                        </a:rPr>
                        <a:t>18-24 month replication window. Every job deepens our AI training data moat.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Contractor fraud or no-shows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DB8C8"/>
                          </a:solidFill>
                        </a:rPr>
                        <a:t>ID verification, GPS geolocation on job start, photo gates, automatic suspension on disputes.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Stripe / Supabase outage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DB8C8"/>
                          </a:solidFill>
                        </a:rPr>
                        <a:t>Documented failover procedures, read replicas, redundant payment method fallback.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0" y="22860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25603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2030, every homeowner in the UK knows they can post a job on Mintenance, receive bids within 24 hours, pay into escrow, and have confidence the money only moves when the work is done — with photo evidence.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291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Mintenance is the trust layer that property maintenance has never had.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4114800"/>
            <a:ext cx="41148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" y="41148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451713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Admin@mintenance.co.uk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1334</Words>
  <Application>Microsoft Office PowerPoint</Application>
  <PresentationFormat>On-screen Show (16:9)</PresentationFormat>
  <Paragraphs>347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Mintenance — Investor Pitch</dc:title>
  <dc:subject>PptxGenJS Presentation</dc:subject>
  <dc:creator>Mintenance</dc:creator>
  <cp:lastModifiedBy>Djodjo Nkouka</cp:lastModifiedBy>
  <cp:revision>2</cp:revision>
  <dcterms:created xsi:type="dcterms:W3CDTF">2026-02-26T14:51:54Z</dcterms:created>
  <dcterms:modified xsi:type="dcterms:W3CDTF">2026-02-26T15:11:12Z</dcterms:modified>
</cp:coreProperties>
</file>